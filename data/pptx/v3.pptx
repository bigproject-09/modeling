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6949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4800" b="1">
                <a:solidFill>
                  <a:srgbClr val="FFFFFF"/>
                </a:solidFill>
              </a:defRPr>
            </a:pPr>
            <a:r>
              <a:t>차세대 해양·극지 환경 및 생태계 기후예측시스템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박철수 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3000" b="1">
                <a:solidFill>
                  <a:srgbClr val="065A82"/>
                </a:solidFill>
              </a:defRPr>
            </a:pPr>
            <a:r>
              <a:t>제안 요약: 해양·극지 기후예측의 혁명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1188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63040"/>
            <a:ext cx="7406640" cy="118872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연구 목표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세계 3위권 예측 정확도 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73152" cy="1188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834640"/>
            <a:ext cx="7406640" cy="118872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핵심 기술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해상도 혁신: 1도 → 1/10도 (중규모 에디 계산)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3000" b="1">
                <a:solidFill>
                  <a:srgbClr val="065A82"/>
                </a:solidFill>
              </a:defRPr>
            </a:pPr>
            <a:r>
              <a:t>연구개발 필요성: 기후 위기 가속화와 현존 기술의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594360" y="135331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북극 해빙 감소 가속화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646464"/>
                </a:solidFill>
              </a:defRPr>
            </a:pPr>
            <a:r>
              <a:t>북극 해빙 감소 가속화 및 남극 빙상 용해</a:t>
            </a:r>
          </a:p>
          <a:p>
            <a:pPr>
              <a:spcAft>
                <a:spcPts val="400"/>
              </a:spcAft>
              <a:defRPr sz="1600">
                <a:solidFill>
                  <a:srgbClr val="646464"/>
                </a:solidFill>
              </a:defRPr>
            </a:pPr>
            <a:r>
              <a:t>한반도 주변 이상 이동 &amp; 해양 산성화 심화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594360" y="249631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해양 생태계 위기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646464"/>
                </a:solidFill>
              </a:defRPr>
            </a:pPr>
            <a:r>
              <a:t>해양 생태계: 대기 CO₂의 30% 흡수원, 기능 약화 중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594360" y="363931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현존 모델의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646464"/>
                </a:solidFill>
              </a:defRPr>
            </a:pPr>
            <a:r>
              <a:t>현존 1도(100km) 모델: 열·물질 수송 핵심인 '중규모 에디' 못사 실패</a:t>
            </a:r>
          </a:p>
          <a:p>
            <a:pPr>
              <a:spcAft>
                <a:spcPts val="400"/>
              </a:spcAft>
              <a:defRPr sz="1600">
                <a:solidFill>
                  <a:srgbClr val="646464"/>
                </a:solidFill>
              </a:defRPr>
            </a:pPr>
            <a:r>
              <a:t>기술 격차: 선진국(미국/유럽) 대비 해양·생태계 결합 기술 5년 격차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3000" b="1">
                <a:solidFill>
                  <a:srgbClr val="065A82"/>
                </a:solidFill>
              </a:defRPr>
            </a:pPr>
            <a:r>
              <a:t>추진 체계: 국내 최고 전문가로 구성된 산·학·연 원팀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594360" y="135331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서울대학교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646464"/>
                </a:solidFill>
              </a:defRPr>
            </a:pPr>
            <a:r>
              <a:t>시스템 개발 및 AI 통합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594360" y="249631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극지연구소(KOPRI)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646464"/>
                </a:solidFill>
              </a:defRPr>
            </a:pPr>
            <a:r>
              <a:t>극지 관측 데이터 및 빙권 검증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594360" y="363931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한국해양과학기술원(KIOST)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646464"/>
                </a:solidFill>
              </a:defRPr>
            </a:pPr>
            <a:r>
              <a:t>생태계 모델링 및 탄소 순환 전문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594360" y="478231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국립수산과학원(NIFS)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646464"/>
                </a:solidFill>
              </a:defRPr>
            </a:pPr>
            <a:r>
              <a:t>수산 분야 적용 및 현장 테스트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
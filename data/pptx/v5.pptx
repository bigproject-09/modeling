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22860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286000"/>
            <a:ext cx="9144000" cy="22860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572000"/>
            <a:ext cx="9144000" cy="22860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0"/>
            <a:ext cx="4572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1800000">
            <a:off x="5943600" y="5029200"/>
            <a:ext cx="3200400" cy="365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1800000">
            <a:off x="6400800" y="5349240"/>
            <a:ext cx="3200400" cy="365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1800000">
            <a:off x="6858000" y="5669280"/>
            <a:ext cx="3200400" cy="365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1800000">
            <a:off x="7315200" y="5989320"/>
            <a:ext cx="3200400" cy="365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1800000">
            <a:off x="7772400" y="6309360"/>
            <a:ext cx="3200400" cy="365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1800000">
            <a:off x="8229600" y="6629400"/>
            <a:ext cx="3200400" cy="365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2560320"/>
            <a:ext cx="64008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  <a:defRPr sz="4000" b="1">
                <a:solidFill>
                  <a:srgbClr val="FFFFFF"/>
                </a:solidFill>
              </a:defRPr>
            </a:pPr>
            <a:r>
              <a:t>차세대 해양·극지 환경 및 생태계 기후예측시스템 개발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512064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i="1">
                <a:solidFill>
                  <a:srgbClr val="FFFFFF"/>
                </a:solidFill>
              </a:defRPr>
            </a:pPr>
            <a:r>
              <a:t>연구책임자  |  박철수 교수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65A82"/>
                </a:solidFill>
              </a:defRPr>
            </a:pPr>
            <a:r>
              <a:t>연구개발 목표 및 핵심 기술: 세계 3위권 예측 정확도 달성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8229600" cy="1828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73152" cy="12801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371600"/>
            <a:ext cx="7315200" cy="1280160"/>
          </a:xfrm>
          <a:prstGeom prst="rect">
            <a:avLst/>
          </a:prstGeom>
          <a:solidFill>
            <a:srgbClr val="F0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508760"/>
            <a:ext cx="676656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65A82"/>
                </a:solidFill>
              </a:defRPr>
            </a:pPr>
            <a:r>
              <a:t>연구 목표</a:t>
            </a:r>
          </a:p>
          <a:p>
            <a:pPr>
              <a:defRPr sz="1500">
                <a:solidFill>
                  <a:srgbClr val="646464"/>
                </a:solidFill>
              </a:defRPr>
            </a:pPr>
            <a:r>
              <a:t>세계 3위권 예측 정확도 확보를 통한 국제 경쟁력 강화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926080"/>
            <a:ext cx="73152" cy="146304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solidFill>
            <a:srgbClr val="F0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063240"/>
            <a:ext cx="6766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65A82"/>
                </a:solidFill>
              </a:defRPr>
            </a:pPr>
            <a:r>
              <a:t>핵심 기술 1: 초고해상도 모델링</a:t>
            </a:r>
          </a:p>
          <a:p>
            <a:pPr>
              <a:defRPr sz="1500">
                <a:solidFill>
                  <a:srgbClr val="646464"/>
                </a:solidFill>
              </a:defRPr>
            </a:pPr>
            <a:r>
              <a:t>해상도 혁신: 기존 1도(100km) → 1/10도(10km)로 10배 향상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663440"/>
            <a:ext cx="73152" cy="164592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4663440"/>
            <a:ext cx="7315200" cy="1645920"/>
          </a:xfrm>
          <a:prstGeom prst="rect">
            <a:avLst/>
          </a:prstGeom>
          <a:solidFill>
            <a:srgbClr val="F0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4800600"/>
            <a:ext cx="6766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65A82"/>
                </a:solidFill>
              </a:defRPr>
            </a:pPr>
            <a:r>
              <a:t>핵심 기술 2: 통합 결합 모델</a:t>
            </a:r>
          </a:p>
          <a:p>
            <a:pPr>
              <a:defRPr sz="1500">
                <a:solidFill>
                  <a:srgbClr val="646464"/>
                </a:solidFill>
              </a:defRPr>
            </a:pPr>
            <a:r>
              <a:t>해양 모델(MOM6, 75 Layers) + 빙권 모델(CICE6) + 생태계 모델(NPZD) 완전 결합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
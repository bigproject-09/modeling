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500000">
            <a:off x="6400800" y="5486400"/>
            <a:ext cx="228600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500000">
            <a:off x="6766560" y="5760720"/>
            <a:ext cx="228600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500000">
            <a:off x="7132320" y="6035040"/>
            <a:ext cx="228600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500000">
            <a:off x="7498079" y="6309360"/>
            <a:ext cx="228600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500000">
            <a:off x="7863840" y="6583680"/>
            <a:ext cx="228600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69494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defRPr sz="4200" b="1">
                <a:solidFill>
                  <a:srgbClr val="FFFFFF"/>
                </a:solidFill>
              </a:defRPr>
            </a:pPr>
            <a:r>
              <a:t>차세대 해양·극지 환경 및 생태계 기후예측시스템 개발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연구책임자  |  박철수 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5A82"/>
                </a:solidFill>
              </a:defRPr>
            </a:pPr>
            <a:r>
              <a:t>제안 요약: 해양·극지 기후예측의 혁명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3152" cy="1097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08760"/>
            <a:ext cx="67665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5A82"/>
                </a:solidFill>
              </a:defRPr>
            </a:pPr>
            <a:r>
              <a:t>연구 목표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세계 3위권 예측 정확도 확보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73152" cy="10972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926080"/>
            <a:ext cx="7315200" cy="109728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67665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65A82"/>
                </a:solidFill>
              </a:defRPr>
            </a:pPr>
            <a:r>
              <a:t>핵심 기술</a:t>
            </a:r>
          </a:p>
          <a:p>
            <a:pPr>
              <a:defRPr sz="1500">
                <a:solidFill>
                  <a:srgbClr val="646464"/>
                </a:solidFill>
              </a:defRPr>
            </a:pPr>
            <a:r>
              <a:t>해상도 혁신: 1도 → 1/10도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5A82"/>
                </a:solidFill>
              </a:defRPr>
            </a:pPr>
            <a:r>
              <a:t>연구개발 필요성: 기후 위기와 기술 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85800" y="1353312"/>
            <a:ext cx="109728" cy="109728"/>
          </a:xfrm>
          <a:prstGeom prst="parallelogram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1E1E"/>
                </a:solidFill>
              </a:defRPr>
            </a:pPr>
            <a:r>
              <a:t>북극 해빙 감소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27631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646464"/>
                </a:solidFill>
              </a:defRPr>
            </a:pPr>
            <a:r>
              <a:t>북극 해빙 감소 가속화 및 남극 빙상 용해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685800" y="2450592"/>
            <a:ext cx="109728" cy="109728"/>
          </a:xfrm>
          <a:prstGeom prst="parallelogram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1E1E"/>
                </a:solidFill>
              </a:defRPr>
            </a:pPr>
            <a:r>
              <a:t>해양 생태계 위기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2491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646464"/>
                </a:solidFill>
              </a:defRPr>
            </a:pPr>
            <a:r>
              <a:t>대기 CO₂ 흡수원 기능 약화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685800" y="3547872"/>
            <a:ext cx="109728" cy="109728"/>
          </a:xfrm>
          <a:prstGeom prst="parallelogram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1E1E"/>
                </a:solidFill>
              </a:defRPr>
            </a:pPr>
            <a:r>
              <a:t>현존 모델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22191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646464"/>
                </a:solidFill>
              </a:defRPr>
            </a:pPr>
            <a:r>
              <a:t>1도 모델의 한계 극복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65A82"/>
                </a:solidFill>
              </a:defRPr>
            </a:pPr>
            <a:r>
              <a:t>추진 체계: 국내 최고 전문가 산·학·연 원팀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1828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2286000" cy="91440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서울대학교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시스템 개발 및 AI 통합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828800"/>
            <a:ext cx="2286000" cy="91440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620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극지연구소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극지 관측 및 빙권 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2286000" cy="91440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해양과기원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생태계 모델링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